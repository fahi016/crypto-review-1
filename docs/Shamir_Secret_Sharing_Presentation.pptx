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2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94D2B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-182880"/>
            <a:ext cx="2743200" cy="27432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94D2B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Shamir's Secret Sharing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9C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Low-Degree Attacks &amp; Prevention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Implementation · Attack Demonstration · Mathematical Verification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5943600" cy="27432"/>
          </a:xfrm>
          <a:prstGeom prst="rect">
            <a:avLst/>
          </a:prstGeom>
          <a:solidFill>
            <a:srgbClr val="0A9396">
              <a:alpha val="60000"/>
            </a:srgbClr>
          </a:solidFill>
          <a:ln w="12700">
            <a:solidFill>
              <a:srgbClr val="0A93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Mohammed Faheem P (23brs1083)   •   Hanaan Makhdoomi (23brs1389)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February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Secret Sharing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109728" cy="1920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Secret Sharing?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a secret among n participants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t: any t participants can reconstruct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 participants learn nothing about the secret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information-theoretic security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09728" cy="1920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8348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28016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thresholds (t=2, 3) chosen for convenience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vulnerability to collusion attacks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with t shares reconstructs secret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analysis &amp; prevention needed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Threshold Secret Sharing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4015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29968" y="34015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029968" y="34015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94176" y="34015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94176" y="34015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58384" y="34015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58384" y="34015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22592" y="34015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22592" y="34015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t shares → Reconstruct Secret   |   t-1 shares → Zero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60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from Scratch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implementation of Shamir's SSS — no external crypto libraries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8229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28416" y="960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28416" y="1463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Attack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8416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Low-degree polynomial attack for t=2,3 configurations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8229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63056" y="82296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72784" y="960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72784" y="14630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Prevention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High-degree (t≈n) + verifiable commitments for secure sharing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84048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Proofs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840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proofs of vulnerability and information-theoretic security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28346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18688" y="283464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28416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328416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28416" y="3840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20–25 test cases: ≥90% attack success before, 0% after prevention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63056" y="28346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63056" y="283464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72784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272784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3840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mandatory graphs: attack rate, time vs degree, confidentiality, latency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931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Shamir [1]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SSS scheme — foundational secret 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of implementation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Feldman [3]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non-interactive verifiable secret 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Prevention 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Pedersen [4]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Non-interactive information-theoretic secure VSS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 scheme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Stinson 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Cryptography: Theory and Practice — mathematical background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structures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Katz &amp; Lindell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Modern Cryptography — comprehensive overview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definitions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7548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09728" cy="3977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8961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Shamir's Scheme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1389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Field: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0" y="13898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Z_p   where p = 2¹²⁷ − 1 (Mersenne prime)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28800" y="1975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s + a₁x + a₂x² + … + a_{t−1}x^{t−1}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28800" y="2560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(i, f(i))  for i = 1, 2, … , 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" y="3145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28800" y="31455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f(0)  — the y-intercept of f(x)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3730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28800" y="3730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at x = 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4389120" cy="548640"/>
          </a:xfrm>
          <a:prstGeom prst="rect">
            <a:avLst/>
          </a:prstGeom>
          <a:solidFill>
            <a:srgbClr val="EEF9FF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39593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degree d = t−1 → any d+1 points uniquely determine f(x) → s = f(0)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822960"/>
            <a:ext cx="3611880" cy="397764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94960" y="896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353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Reconstruction formula: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1664208"/>
            <a:ext cx="3337560" cy="640080"/>
          </a:xfrm>
          <a:prstGeom prst="rect">
            <a:avLst/>
          </a:prstGeom>
          <a:solidFill>
            <a:srgbClr val="0D2B5E"/>
          </a:solidFill>
          <a:ln w="63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13248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f(0) = Σ yᵢ · Lᵢ(0)  mod 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423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Basis polynomial: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2715768"/>
            <a:ext cx="3337560" cy="548640"/>
          </a:xfrm>
          <a:prstGeom prst="rect">
            <a:avLst/>
          </a:prstGeom>
          <a:solidFill>
            <a:srgbClr val="0D2B5E"/>
          </a:solidFill>
          <a:ln w="63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13248" y="27432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Lᵢ(0) = Π_{j≠i} (−xⱼ)/(xᵢ−xⱼ)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C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Uniqueness Guarantee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d+1 points → unique degree-d polynomial over Z_p. This is fundamental to both security (t shares → reconstruct) and vulnerability (t shares → attack).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Proof 1 — Why Low Degree Fails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850392"/>
            <a:ext cx="7269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degree-d polynomial is uniquely determined by exactly d+1 points. An attacker holding t shares (= degree t−1) can reconstruct the secret s = f(0) with 100% probability.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109728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93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3134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Given t shares (x₁,y₁),…,(xₜ,yₜ), compute basis polynomials Lᵢ(x) = Π_{j≠i} (x−xⱼ)/(xᵢ−xⱼ)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109728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93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over Z_p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d+1 = t points in Z_p uniquely determine a degree-(t−1) polynomial, so interpolation gives the exact same f(x) the dealer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1645920"/>
            <a:ext cx="109728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993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Secret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23134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Evaluate at x=0: s = f(0) = Σ yᵢ · Lᵢ(0) mod p — complexity O(t²) field operations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109728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593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t=2 (linear f)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37760" y="3913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 = y₁·x₂/(x₂−x₁) − y₂·x₁/(x₂−x₁) — attacker solves a simple linear equation instantly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736592"/>
            <a:ext cx="8595360" cy="210312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472744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Attacker with t shares reconstructs secret with 100% probability — no computational hardness assumption needed.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Model &amp;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832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generates f(x) of degree t−1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n shares: {(1,f(1)), …, (n,f(n))}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 participants can reconstruct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n=5, t=2 (degree 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Scenario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obtains t=2 shares: (1,y₁), (2,y₂)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line equation through 2 points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f(0) to recover secret 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O(1) field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822960"/>
            <a:ext cx="4434840" cy="402336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886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Algorithm — Python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2984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reconstruct_secret(shares):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14904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shares: list of (x, y) tuples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168249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 = 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18745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len(shares)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20665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range(t):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22585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xi, yi = shares[i]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24505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num, den = 1, 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264261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range(t):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8346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i != j: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0266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xj = shares[j][0]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32186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num = (num * (-xj)) % 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41071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den = (den * (xi - xj)) % 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36027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Li0 = num * modinv(den, p) % 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37947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 = (secret + yi * Li0) % 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8678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secret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4434840" cy="548640"/>
          </a:xfrm>
          <a:prstGeom prst="rect">
            <a:avLst/>
          </a:prstGeom>
          <a:solidFill>
            <a:srgbClr val="102040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0" y="431596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 recovered with 100% accuracy in &lt; 1ms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Mechanism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High-Degree Polynomial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threshold t = n−1 or t = 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degree raised to n−2 or n−1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needs n−1 shares (nearly everyone)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 shares provide zero information about 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 security guaranteed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148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Commitments (VSS)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Cᵢ = HASH(aᵢ ‖ nonceᵢ) for each coefficient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verify shares against commitments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cheating dealer from distributing bad shares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— no extra communication rounds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Feldman/Pedersen VSS protocols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Prevention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53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 → t = n−1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42245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Attack Success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4453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→ 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2245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Info Leaked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4453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Secret → Zero Bits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42245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4453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Info-Theoretic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Proof 2 — High-Degree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5039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859536"/>
            <a:ext cx="7269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threshold t = n, any n−1 shares reveal zero information about the secret s (information-theoretic secrecy).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42519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Setup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Attacker holds n−1 shares: (x₁,y₁), …, (x_{n−1},y_{n−1}) and guesses candidate secret s′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319272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319272"/>
            <a:ext cx="42519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Key Observation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77647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Points (0,s′), (x₁,y₁), …, (x_{n−1},y_{n−1}) uniquely define a degree-(n−1) polynomial for ANY s′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627632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1627632"/>
            <a:ext cx="42519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Uniform Distribution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0848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of the p possible values of s′ ∈ Z_p yields a valid polynomial consistent with the n−1 observed shares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319272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3319272"/>
            <a:ext cx="42519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3429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Security Bound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377647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Pr[S = s | n−1 shares] = 1/p ≈ 2⁻¹²⁷  — computationally and information-theoretically indistinguishable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4727448"/>
            <a:ext cx="8595360" cy="228600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472744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Even with unlimited computation, an attacker cannot distinguish which s is the real secret.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09728" cy="4023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8778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Requirements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field arithmetic (add, mul, inv, pow)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generation and evaluation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interpolation over Z_p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commitment generation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cryptographic libraries used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— Tkinter Interface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generation &amp; share distribution panel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attack simulation controls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mechanism toggle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822960"/>
            <a:ext cx="4434840" cy="402336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886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353312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81728" y="13898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FiniteField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81728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Prime field ops: add, mul, inverse, power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993392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81728" y="20299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ShamirSecretSharing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81728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scheme: generate, distribute, reconstruct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633472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81728" y="26700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AttackSimulator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81728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Low-degree interpolation attack engine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3273552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81728" y="331012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PreventionMechanism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81728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High-degree + VSS commitment generation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913632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81728" y="39502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ShamirGUI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81728" y="4206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Tkinter graphical user interface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34840" y="4572000"/>
            <a:ext cx="4434840" cy="274320"/>
          </a:xfrm>
          <a:prstGeom prst="rect">
            <a:avLst/>
          </a:prstGeom>
          <a:solidFill>
            <a:srgbClr val="102040"/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0" y="4590288"/>
            <a:ext cx="4160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Language: Python 3  |  Libraries: hashlib, tkinter, secrets (stdlib only)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Pseudo-Algorithms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886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Algorithm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t shares (x₁,y₁),…,(xₜ,yₜ)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Initialize: secret ← 0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9248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For i = 1 to t: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139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   Compute basis polynomial: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3545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Lᵢ(0) = Π_{j≠i} (−xⱼ)/(xᵢ−xⱼ)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5694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    secret ← secret + yᵢ·Lᵢ(0)  mod p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784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End For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32141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secret = f(0) = s  ✓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6438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Complexity: O(t²) field multiplications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t=2: O(1) — single formula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886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Algorithm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280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secret s, participants n, threshold t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846320" y="1709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Generate degree-(t−1) polynomial: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846320" y="19248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f(x) = s + a₁x + … + a_{t−1}x^{t−1}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846320" y="2139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aᵢ ←ᴿ Z_p  (random coefficients)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846320" y="23545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Create commitments: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846320" y="25694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Cᵢ = HASH(aᵢ ‖ nonceᵢ)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846320" y="2784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Generate n shares: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846320" y="2999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shareᵢ = (i, f(i))  for i=1..n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846320" y="32141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Verify each share against commitments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846320" y="3429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Distribute: {shareᵢ, commitments}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46320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Security: t−1 shares → Pr[s]=1/p ≈ 2⁻¹²⁷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Statistics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86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Configuration: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886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automated test cases  |  Random secrets ∈ Z_p  |  n = 5–10  |  t_low = 2–3  |  t_high = n−1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19072"/>
          <a:ext cx="832104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Prevention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Prevention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Success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+95pp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Reconstruction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+0.013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Cheating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New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Leakage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(s exposed)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Information-theoretic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471830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Prevention mechanism completely blocks all interpolation attacks with only 13ms additional overhead.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1 — Attack Success Rate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804672"/>
            <a:ext cx="2880360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89320" y="804672"/>
            <a:ext cx="109728" cy="41330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99632" y="88696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99632" y="1325880"/>
            <a:ext cx="257860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(t=2,3): 100% attack success — attacker reconstructs secret with only 2 shares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(t=n−1): 0% attack success — complete prevention of interpolation attack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High-degree polynomials eliminate reconstruction vulnerability entirely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threshold target (dashed line) far exceeded by prevention mechanism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6F155A-B8C1-739D-6B18-C27B2FC69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1" y="1207008"/>
            <a:ext cx="5685343" cy="33734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2 — Computation Time vs Polynomial Degree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804672"/>
            <a:ext cx="2880360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89320" y="804672"/>
            <a:ext cx="109728" cy="41330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99632" y="88696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280160"/>
            <a:ext cx="2560320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245352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1–2: Vulnerable region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99632" y="1691640"/>
            <a:ext cx="2560320" cy="320040"/>
          </a:xfrm>
          <a:prstGeom prst="rect">
            <a:avLst/>
          </a:prstGeom>
          <a:solidFill>
            <a:srgbClr val="EEFFEE"/>
          </a:solidFill>
          <a:ln w="63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45352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3+: Secure region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99632" y="2148840"/>
            <a:ext cx="25786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grows polynomially with degree — manageable overhead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grows exponentially: each extra degree exponentially harder to attack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degree n−1: time ≈ 15ms — acceptable for practical deployment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3509C7-08C3-D186-EF07-9C653EEB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6" y="1015637"/>
            <a:ext cx="5496325" cy="37849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3 — Confidentiality Rate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804672"/>
            <a:ext cx="2880360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89320" y="804672"/>
            <a:ext cx="109728" cy="41330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99632" y="88696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99632" y="1325880"/>
            <a:ext cx="257860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Only 0% confidentiality — all of secrets fully exposed to attacker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100% confidentiality achieved — information-theoretically perfect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target line fully met by prevention mechanism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not computational — holds even against unlimited compute power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26F0A4-9131-D9E5-AEF2-D9A1293B0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" y="902970"/>
            <a:ext cx="5756801" cy="39364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4 — Latency &amp; Performance Overhead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804672"/>
            <a:ext cx="2880360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89320" y="804672"/>
            <a:ext cx="109728" cy="41330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99632" y="88696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99632" y="1325880"/>
            <a:ext cx="257860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Low-degree setup: ~2ms — minimal computation for a linear polynomial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High-degree setup: ~15ms — modest increase for degree n−1 polynomial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overhead: ~13ms — a 7.5× increase for near-perfect security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13ms is imperceptible to end users — fully practical for real systems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15361C-D1FA-907B-AA05-CD1BE4BAA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" y="1109363"/>
            <a:ext cx="5927256" cy="35237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Preview — GUI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594360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932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Secret/Polynomial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12161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Configure vulnerable t=2 setup, generate random secret s ∈ Z_p, distribute n shares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594360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728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Attack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201168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Simulate attacker obtaining 2 shares and reconstructing secret via Lagrange interpolation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5973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459736"/>
            <a:ext cx="594360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2459736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Prevention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280720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Switch to high-degree t=n−1 + verifiable hash commitments for each coefficient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3255264"/>
            <a:ext cx="594360" cy="7132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3255264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Suite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" y="360273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Execute 20–25 automated test cases, report attack success rates before and after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05079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4050792"/>
            <a:ext cx="594360" cy="7132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4050792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58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Graphs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05840" y="439826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Render 4 mandatory charts: attack rate, time vs degree, confidentiality, latency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736592"/>
            <a:ext cx="8595360" cy="2468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45920" y="4773168"/>
            <a:ext cx="18288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874520" y="4754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Vulnerable/Attack Success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773168"/>
            <a:ext cx="182880" cy="1645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00600" y="4754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Secure/Attack Blocked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D2B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 &amp; Impact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Low-Degree Vulnerability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527048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Polynomials of degree 1–2 (t=2,3) are trivially vulnerable to Lagrange interpolation attacks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502920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95681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24942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 shares uniquely determine the degree-(t−1) polynomial, giving attacker full knowledge of secret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79192"/>
            <a:ext cx="502920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67919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2706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High-Degree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297180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Setting t≈n provides information-theoretic security — t−1 shares reveal zero information about 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502920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4015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429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Commitments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694176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Hash-based VSS prevents dealer cheating and ensures share integrity across distribution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23944"/>
            <a:ext cx="502920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1239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6112" y="41513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4416552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20–25 test cases confirmed: attack success drops from 95% → 0% with prevention enabled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solidFill>
            <a:srgbClr val="0A9396">
              <a:alpha val="70000"/>
            </a:srgbClr>
          </a:solidFill>
          <a:ln w="12700">
            <a:solidFill>
              <a:srgbClr val="0A939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Proper parameter selection (threshold choice) is critical for cryptographic security in secret sharing deployments.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731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Analysis of Shamir's Secret Sharing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374904"/>
          </a:xfrm>
          <a:prstGeom prst="rect">
            <a:avLst/>
          </a:prstGeom>
          <a:solidFill>
            <a:srgbClr val="F5F8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[1] Shamir, A. (1979). How to share a secret. Communications of the ACM, 22(11), 612-613.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390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[2] Feldman, P. (1987). A practical scheme for non-interactive verifiable secret sharing. In Proc. 28th FOCS, pp. 427–438.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8595360" cy="374904"/>
          </a:xfrm>
          <a:prstGeom prst="rect">
            <a:avLst/>
          </a:prstGeom>
          <a:solidFill>
            <a:srgbClr val="F5F8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6367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[3] Pedersen, T. P. (1991). Non-interactive and information-theoretic secure verifiable secret sharing. In CRYPTO 1991, pp. 129–140.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345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[4] Stinson, D. R. (2006). Cryptography: Theory and Practice (3rd ed.). Chapman and Hall/CRC.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8595360" cy="374904"/>
          </a:xfrm>
          <a:prstGeom prst="rect">
            <a:avLst/>
          </a:prstGeom>
          <a:solidFill>
            <a:srgbClr val="F5F8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43230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[5] Katz, J., &amp; Lindell, Y. (2014). Introduction to Modern Cryptography (2nd ed.). CRC Press.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8300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[6] Blakley, G. R. (1979). Safeguarding cryptographic keys. Proc. AFIPS, pp. 313–317.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09544"/>
            <a:ext cx="8595360" cy="374904"/>
          </a:xfrm>
          <a:prstGeom prst="rect">
            <a:avLst/>
          </a:prstGeom>
          <a:solidFill>
            <a:srgbClr val="F5F8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2278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[7] Beimel, A. (2011). Secret-sharing schemes: A survey. Coding and Cryptology, LNCS 6639, pp. 11–46.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6255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[8] Goldreich, O. (2004). Foundations of Cryptography, Vol. 2. Cambridge University Press.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8595360" cy="374904"/>
          </a:xfrm>
          <a:prstGeom prst="rect">
            <a:avLst/>
          </a:prstGeom>
          <a:solidFill>
            <a:srgbClr val="F5F8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4023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[9] Cramer, R., Damgård, I., &amp; Nielsen, J. B. (2015). Secure Multiparty Computation and Secret Sharing. Cambridge University Press.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2112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[10] Mignotte, M. (1983). How to share a secret. Cryptography, LNCS 149, pp. 371–375.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0A9396">
              <a:alpha val="8000"/>
            </a:srgbClr>
          </a:solidFill>
          <a:ln w="12700">
            <a:solidFill>
              <a:srgbClr val="94D2B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9C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0A9396">
              <a:alpha val="50000"/>
            </a:srgbClr>
          </a:solidFill>
          <a:ln w="12700">
            <a:solidFill>
              <a:srgbClr val="0A939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Mohammed Faheem 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23brs1083@university.edu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Hanaan Makhdoomi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23brs1389@university.edu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645152"/>
            <a:ext cx="32004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4645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 Available on 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2610</Words>
  <Application>Microsoft Office PowerPoint</Application>
  <PresentationFormat>On-screen Show (16:9)</PresentationFormat>
  <Paragraphs>377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Analysis of Shamir's Secret Sharing</dc:title>
  <dc:subject>PptxGenJS Presentation</dc:subject>
  <dc:creator>Mohammed Faheem P, Hanaan Makhdoomi</dc:creator>
  <cp:lastModifiedBy>Mohammed Faheem P</cp:lastModifiedBy>
  <cp:revision>2</cp:revision>
  <dcterms:created xsi:type="dcterms:W3CDTF">2026-02-25T16:09:05Z</dcterms:created>
  <dcterms:modified xsi:type="dcterms:W3CDTF">2026-02-25T16:20:18Z</dcterms:modified>
</cp:coreProperties>
</file>